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1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411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B0B7C3"/>
                </a:solidFill>
              </a:rPr>
              <a:t>Comment passer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A2E"/>
                </a:solidFill>
              </a:rPr>
              <a:t>4★ à 5★ sur Airbnb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F8EF8"/>
                </a:solidFill>
              </a:rPr>
              <a:t>Bordeaux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1A1A2E"/>
                </a:solidFill>
              </a:rPr>
              <a:t>Analyse</a:t>
            </a:r>
            <a:r>
              <a:rPr sz="1400" b="0" dirty="0">
                <a:solidFill>
                  <a:srgbClr val="1A1A2E"/>
                </a:solidFill>
              </a:rPr>
              <a:t> data &amp; </a:t>
            </a:r>
            <a:r>
              <a:rPr sz="1400" b="0" dirty="0" err="1">
                <a:solidFill>
                  <a:srgbClr val="1A1A2E"/>
                </a:solidFill>
              </a:rPr>
              <a:t>recommandations</a:t>
            </a:r>
            <a:r>
              <a:rPr sz="1400" b="0" dirty="0">
                <a:solidFill>
                  <a:srgbClr val="1A1A2E"/>
                </a:solidFill>
              </a:rPr>
              <a:t> </a:t>
            </a:r>
            <a:r>
              <a:rPr sz="1400" b="0" dirty="0" err="1">
                <a:solidFill>
                  <a:srgbClr val="1A1A2E"/>
                </a:solidFill>
              </a:rPr>
              <a:t>personnalisées</a:t>
            </a:r>
            <a:r>
              <a:rPr lang="fr-FR" sz="1400" b="0" dirty="0">
                <a:solidFill>
                  <a:srgbClr val="1A1A2E"/>
                </a:solidFill>
              </a:rPr>
              <a:t>
</a:t>
            </a:r>
            <a:r>
              <a:rPr sz="1400" b="0" dirty="0">
                <a:solidFill>
                  <a:srgbClr val="1A1A2E"/>
                </a:solidFill>
              </a:rPr>
              <a:t>pour </a:t>
            </a:r>
            <a:r>
              <a:rPr sz="1400" b="0" dirty="0" err="1">
                <a:solidFill>
                  <a:srgbClr val="1A1A2E"/>
                </a:solidFill>
              </a:rPr>
              <a:t>optimiser</a:t>
            </a:r>
            <a:r>
              <a:rPr sz="1400" b="0" dirty="0">
                <a:solidFill>
                  <a:srgbClr val="1A1A2E"/>
                </a:solidFill>
              </a:rPr>
              <a:t> </a:t>
            </a:r>
            <a:r>
              <a:rPr sz="1400" b="0" dirty="0" err="1">
                <a:solidFill>
                  <a:srgbClr val="1A1A2E"/>
                </a:solidFill>
              </a:rPr>
              <a:t>vos</a:t>
            </a:r>
            <a:r>
              <a:rPr sz="1400" b="0" dirty="0">
                <a:solidFill>
                  <a:srgbClr val="1A1A2E"/>
                </a:solidFill>
              </a:rPr>
              <a:t> notes voyageurs</a:t>
            </a:r>
          </a:p>
        </p:txBody>
      </p:sp>
      <p:sp>
        <p:nvSpPr>
          <p:cNvPr id="8" name="Rectangle 7"/>
          <p:cNvSpPr/>
          <p:nvPr/>
        </p:nvSpPr>
        <p:spPr>
          <a:xfrm flipV="1">
            <a:off x="822960" y="4343400"/>
            <a:ext cx="7756444" cy="45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12 252 </a:t>
            </a:r>
            <a:r>
              <a:rPr sz="11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logements</a:t>
            </a:r>
            <a:r>
              <a:rPr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1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analysés</a:t>
            </a:r>
            <a:r>
              <a:rPr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•  469 309 avis voyageurs  •  15 </a:t>
            </a:r>
            <a:r>
              <a:rPr sz="11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critères</a:t>
            </a:r>
            <a:r>
              <a:rPr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B0B7C3"/>
                </a:solidFill>
              </a:rPr>
              <a:t>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 marché Airbnb Bordeaux en chiffres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377440" cy="146304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12 252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logements actifs
analysés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188720"/>
            <a:ext cx="2377440" cy="1463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1325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4.7 /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note médiane
du marché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188720"/>
            <a:ext cx="2377440" cy="1463040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0" y="1325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62 %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des logements
sont à 4.8+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88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6A6A"/>
                </a:solidFill>
              </a:rPr>
              <a:t>→ La compétition se joue sur les décimales : 4.79 vs 4.80 fait toute la différence.</a:t>
            </a:r>
          </a:p>
        </p:txBody>
      </p:sp>
      <p:pic>
        <p:nvPicPr>
          <p:cNvPr id="15" name="Picture 14" descr="01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0"/>
            <a:ext cx="112471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Où se perdent les points ?</a:t>
            </a:r>
          </a:p>
        </p:txBody>
      </p:sp>
      <p:pic>
        <p:nvPicPr>
          <p:cNvPr id="5" name="Picture 4" descr="03_subscores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132320" cy="493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0" y="1097280"/>
            <a:ext cx="54864" cy="1097280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827264" y="1097280"/>
            <a:ext cx="405993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09560" y="118872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6A6A"/>
                </a:solidFill>
              </a:rPr>
              <a:t>  Propreté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508760"/>
            <a:ext cx="3886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Corrélation la plus forte
avec la note globale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331720"/>
            <a:ext cx="54864" cy="109728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27264" y="2331720"/>
            <a:ext cx="405993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0" y="242316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9344"/>
                </a:solidFill>
              </a:rPr>
              <a:t>  Précision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743200"/>
            <a:ext cx="3886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L'annonce doit
correspondre à la réalité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566160"/>
            <a:ext cx="54864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27264" y="3566160"/>
            <a:ext cx="405993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365760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</a:rPr>
              <a:t>  Valeur perçue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977640"/>
            <a:ext cx="3886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Rapport qualité/prix
très impactant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4800600"/>
            <a:ext cx="54864" cy="10972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27264" y="4800600"/>
            <a:ext cx="405993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9560" y="48920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8EF8"/>
                </a:solidFill>
              </a:rPr>
              <a:t>  Localisation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212080"/>
            <a:ext cx="3886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Peu actionnable
→ focus sur le reste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Les équipements qui font la différence</a:t>
            </a:r>
          </a:p>
        </p:txBody>
      </p:sp>
      <p:pic>
        <p:nvPicPr>
          <p:cNvPr id="5" name="Picture 4" descr="04_amenities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315200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0972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8EF8"/>
                </a:solidFill>
              </a:rPr>
              <a:t>⚡ Quick Wins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755648"/>
            <a:ext cx="164592" cy="164592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WiFi rapide &amp; fiable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441448"/>
            <a:ext cx="164592" cy="1645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Fer à repasser + planche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3127248"/>
            <a:ext cx="164592" cy="1645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Produits de base (café…)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3813048"/>
            <a:ext cx="164592" cy="164592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3703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Sèche-cheveux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4498848"/>
            <a:ext cx="164592" cy="164592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4389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Caféière / bouilloire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5184648"/>
            <a:ext cx="164592" cy="164592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5074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Guide d'accueil clair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Ce que disent vraiment vos voyageurs (IA NLP)</a:t>
            </a:r>
          </a:p>
        </p:txBody>
      </p:sp>
      <p:pic>
        <p:nvPicPr>
          <p:cNvPr id="5" name="Picture 4" descr="13_complaints_by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498079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4F8EF8"/>
                </a:solidFill>
              </a:rPr>
              <a:t> </a:t>
            </a:r>
            <a:r>
              <a:rPr sz="1300" b="1" dirty="0" err="1">
                <a:solidFill>
                  <a:srgbClr val="4F8EF8"/>
                </a:solidFill>
              </a:rPr>
              <a:t>Méthode</a:t>
            </a:r>
            <a:endParaRPr sz="1300" b="1" dirty="0">
              <a:solidFill>
                <a:srgbClr val="4F8EF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38160" y="15087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469 309 avis analysés
par moteur regex bilingue
(FR + EN, 15 catégories)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6A6A"/>
                </a:solidFill>
              </a:rPr>
              <a:t>🔴 Top plaintes (logements &lt; 4.5)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17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1. Propreté insuffisante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4930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2. Bruit / nuisances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96849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3. Climatisation / chauffage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443983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4. WiFi lent ou absent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9194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5. Check-in difficile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Plan d'action — De 4★ à 5★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2376213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</a:rPr>
              <a:t>🧹 </a:t>
            </a:r>
            <a:r>
              <a:rPr sz="1800" b="1" dirty="0" err="1">
                <a:solidFill>
                  <a:srgbClr val="FFFFFF"/>
                </a:solidFill>
              </a:rPr>
              <a:t>Propreté</a:t>
            </a:r>
            <a:endParaRPr sz="1800" b="1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383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</a:rPr>
              <a:t>• </a:t>
            </a:r>
            <a:r>
              <a:rPr sz="1200" b="0" dirty="0" err="1">
                <a:solidFill>
                  <a:srgbClr val="FFFFFF"/>
                </a:solidFill>
              </a:rPr>
              <a:t>Protocole</a:t>
            </a:r>
            <a:r>
              <a:rPr sz="1200" b="0" dirty="0">
                <a:solidFill>
                  <a:srgbClr val="FFFFFF"/>
                </a:solidFill>
              </a:rPr>
              <a:t> de ménage </a:t>
            </a:r>
            <a:r>
              <a:rPr sz="1200" b="0" dirty="0" err="1">
                <a:solidFill>
                  <a:srgbClr val="FFFFFF"/>
                </a:solidFill>
              </a:rPr>
              <a:t>renforcé</a:t>
            </a:r>
            <a:r>
              <a:rPr sz="1200" b="0" dirty="0">
                <a:solidFill>
                  <a:srgbClr val="FFFFFF"/>
                </a:solidFill>
              </a:rPr>
              <a:t>
• Prestataire </a:t>
            </a:r>
            <a:r>
              <a:rPr sz="1200" b="0" dirty="0" err="1">
                <a:solidFill>
                  <a:srgbClr val="FFFFFF"/>
                </a:solidFill>
              </a:rPr>
              <a:t>professionnel</a:t>
            </a:r>
            <a:r>
              <a:rPr sz="1200" b="0" dirty="0">
                <a:solidFill>
                  <a:srgbClr val="FFFFFF"/>
                </a:solidFill>
              </a:rPr>
              <a:t>
• Kit </a:t>
            </a:r>
            <a:r>
              <a:rPr sz="1200" b="0" dirty="0" err="1">
                <a:solidFill>
                  <a:srgbClr val="FFFFFF"/>
                </a:solidFill>
              </a:rPr>
              <a:t>produits</a:t>
            </a:r>
            <a:r>
              <a:rPr sz="1200" b="0" dirty="0">
                <a:solidFill>
                  <a:srgbClr val="FFFFFF"/>
                </a:solidFill>
              </a:rPr>
              <a:t> visible
→ </a:t>
            </a:r>
            <a:r>
              <a:rPr sz="1200" b="0" dirty="0" err="1">
                <a:solidFill>
                  <a:srgbClr val="FFFFFF"/>
                </a:solidFill>
              </a:rPr>
              <a:t>Corrélation</a:t>
            </a:r>
            <a:r>
              <a:rPr sz="1200" b="0" dirty="0">
                <a:solidFill>
                  <a:srgbClr val="FFFFFF"/>
                </a:solidFill>
              </a:rPr>
              <a:t> #1 avec la note</a:t>
            </a:r>
            <a:endParaRPr lang="fr-FR" sz="1200" b="0" dirty="0">
              <a:solidFill>
                <a:srgbClr val="FFFFFF"/>
              </a:solidFill>
            </a:endParaRPr>
          </a:p>
          <a:p>
            <a:pPr algn="l"/>
            <a:endParaRPr sz="1200" b="0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51960" y="1097280"/>
            <a:ext cx="3657600" cy="2376213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1887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🔌 Équipements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691640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783080"/>
            <a:ext cx="3383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</a:rPr>
              <a:t>• </a:t>
            </a:r>
            <a:r>
              <a:rPr sz="1200" b="0" dirty="0" err="1">
                <a:solidFill>
                  <a:srgbClr val="FFFFFF"/>
                </a:solidFill>
              </a:rPr>
              <a:t>WiFi</a:t>
            </a: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200" b="0" dirty="0" err="1">
                <a:solidFill>
                  <a:srgbClr val="FFFFFF"/>
                </a:solidFill>
              </a:rPr>
              <a:t>fibre</a:t>
            </a:r>
            <a:r>
              <a:rPr sz="1200" b="0" dirty="0">
                <a:solidFill>
                  <a:srgbClr val="FFFFFF"/>
                </a:solidFill>
              </a:rPr>
              <a:t> visible </a:t>
            </a:r>
            <a:r>
              <a:rPr sz="1200" b="0" dirty="0" err="1">
                <a:solidFill>
                  <a:srgbClr val="FFFFFF"/>
                </a:solidFill>
              </a:rPr>
              <a:t>dès</a:t>
            </a: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200" b="0" dirty="0" err="1">
                <a:solidFill>
                  <a:srgbClr val="FFFFFF"/>
                </a:solidFill>
              </a:rPr>
              <a:t>l'annonce</a:t>
            </a:r>
            <a:r>
              <a:rPr sz="1200" b="0" dirty="0">
                <a:solidFill>
                  <a:srgbClr val="FFFFFF"/>
                </a:solidFill>
              </a:rPr>
              <a:t>
• Fer, cafetière, </a:t>
            </a:r>
            <a:r>
              <a:rPr sz="1200" b="0" dirty="0" err="1">
                <a:solidFill>
                  <a:srgbClr val="FFFFFF"/>
                </a:solidFill>
              </a:rPr>
              <a:t>sèche-cheveux</a:t>
            </a:r>
            <a:r>
              <a:rPr sz="1200" b="0" dirty="0">
                <a:solidFill>
                  <a:srgbClr val="FFFFFF"/>
                </a:solidFill>
              </a:rPr>
              <a:t>
• Guide </a:t>
            </a:r>
            <a:r>
              <a:rPr sz="1200" b="0" dirty="0" err="1">
                <a:solidFill>
                  <a:srgbClr val="FFFFFF"/>
                </a:solidFill>
              </a:rPr>
              <a:t>d'équipements</a:t>
            </a: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200" b="0" dirty="0" err="1">
                <a:solidFill>
                  <a:srgbClr val="FFFFFF"/>
                </a:solidFill>
              </a:rPr>
              <a:t>clair</a:t>
            </a:r>
            <a:r>
              <a:rPr sz="1200" b="0" dirty="0">
                <a:solidFill>
                  <a:srgbClr val="FFFFFF"/>
                </a:solidFill>
              </a:rPr>
              <a:t>
→ ROI </a:t>
            </a:r>
            <a:r>
              <a:rPr sz="1200" b="0" dirty="0" err="1">
                <a:solidFill>
                  <a:srgbClr val="FFFFFF"/>
                </a:solidFill>
              </a:rPr>
              <a:t>immédiat</a:t>
            </a:r>
            <a:r>
              <a:rPr sz="1200" b="0" dirty="0">
                <a:solidFill>
                  <a:srgbClr val="FFFFFF"/>
                </a:solidFill>
              </a:rPr>
              <a:t>, </a:t>
            </a:r>
            <a:r>
              <a:rPr sz="1200" b="0" dirty="0" err="1">
                <a:solidFill>
                  <a:srgbClr val="FFFFFF"/>
                </a:solidFill>
              </a:rPr>
              <a:t>coût</a:t>
            </a:r>
            <a:r>
              <a:rPr sz="1200" b="0" dirty="0">
                <a:solidFill>
                  <a:srgbClr val="FFFFFF"/>
                </a:solidFill>
              </a:rPr>
              <a:t> &lt; 100€</a:t>
            </a:r>
            <a:endParaRPr lang="fr-FR" sz="1200" b="0" dirty="0">
              <a:solidFill>
                <a:srgbClr val="FFFFFF"/>
              </a:solidFill>
            </a:endParaRPr>
          </a:p>
          <a:p>
            <a:pPr algn="l"/>
            <a:endParaRPr sz="1200" b="0" dirty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38160" y="1098507"/>
            <a:ext cx="3657600" cy="237498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1887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🤝 Profil hôte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91640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813765"/>
            <a:ext cx="3383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</a:rPr>
              <a:t>• Réponse &lt; 1 </a:t>
            </a:r>
            <a:r>
              <a:rPr sz="1200" b="0" dirty="0" err="1">
                <a:solidFill>
                  <a:srgbClr val="FFFFFF"/>
                </a:solidFill>
              </a:rPr>
              <a:t>heure</a:t>
            </a:r>
            <a:r>
              <a:rPr sz="1200" b="0" dirty="0">
                <a:solidFill>
                  <a:srgbClr val="FFFFFF"/>
                </a:solidFill>
              </a:rPr>
              <a:t> (</a:t>
            </a:r>
            <a:r>
              <a:rPr sz="1200" b="0" dirty="0" err="1">
                <a:solidFill>
                  <a:srgbClr val="FFFFFF"/>
                </a:solidFill>
              </a:rPr>
              <a:t>automatisable</a:t>
            </a:r>
            <a:r>
              <a:rPr sz="1200" b="0" dirty="0">
                <a:solidFill>
                  <a:srgbClr val="FFFFFF"/>
                </a:solidFill>
              </a:rPr>
              <a:t>)
• </a:t>
            </a:r>
            <a:r>
              <a:rPr sz="1200" b="0" dirty="0" err="1">
                <a:solidFill>
                  <a:srgbClr val="FFFFFF"/>
                </a:solidFill>
              </a:rPr>
              <a:t>Taux</a:t>
            </a: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200" b="0" dirty="0" err="1">
                <a:solidFill>
                  <a:srgbClr val="FFFFFF"/>
                </a:solidFill>
              </a:rPr>
              <a:t>d'acceptation</a:t>
            </a:r>
            <a:r>
              <a:rPr sz="1200" b="0" dirty="0">
                <a:solidFill>
                  <a:srgbClr val="FFFFFF"/>
                </a:solidFill>
              </a:rPr>
              <a:t> &gt; 90 %
• Objectif </a:t>
            </a:r>
            <a:r>
              <a:rPr sz="1200" b="0" dirty="0" err="1">
                <a:solidFill>
                  <a:srgbClr val="FFFFFF"/>
                </a:solidFill>
              </a:rPr>
              <a:t>Superhost</a:t>
            </a:r>
            <a:r>
              <a:rPr sz="1200" b="0" dirty="0">
                <a:solidFill>
                  <a:srgbClr val="FFFFFF"/>
                </a:solidFill>
              </a:rPr>
              <a:t>
→ +15 pts sur la </a:t>
            </a:r>
            <a:r>
              <a:rPr sz="1200" b="0" dirty="0" err="1">
                <a:solidFill>
                  <a:srgbClr val="FFFFFF"/>
                </a:solidFill>
              </a:rPr>
              <a:t>visibilité</a:t>
            </a:r>
            <a:endParaRPr lang="fr-FR" sz="1200" b="0" dirty="0">
              <a:solidFill>
                <a:srgbClr val="FFFFFF"/>
              </a:solidFill>
            </a:endParaRPr>
          </a:p>
          <a:p>
            <a:pPr algn="l"/>
            <a:endParaRPr sz="1200" b="0" dirty="0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263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 Notre outil génère un rapport personnalisé pour chaque logement — prêt en 30 secondes.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330</Words>
  <Application>Microsoft Office PowerPoint</Application>
  <PresentationFormat>Personnalisé</PresentationFormat>
  <Paragraphs>48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Benoît DAVID</dc:creator>
  <cp:keywords/>
  <dc:description>generated using python-pptx</dc:description>
  <cp:lastModifiedBy>Benoît DAVID</cp:lastModifiedBy>
  <cp:revision>2</cp:revision>
  <dcterms:created xsi:type="dcterms:W3CDTF">2013-01-27T09:14:16Z</dcterms:created>
  <dcterms:modified xsi:type="dcterms:W3CDTF">2026-06-17T14:51:29Z</dcterms:modified>
  <cp:category/>
</cp:coreProperties>
</file>