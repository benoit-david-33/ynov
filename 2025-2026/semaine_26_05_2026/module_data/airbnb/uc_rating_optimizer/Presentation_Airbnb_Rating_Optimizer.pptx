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B0B7C3"/>
                </a:solidFill>
              </a:rPr>
              <a:t>Comment passer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A2E"/>
                </a:solidFill>
              </a:rPr>
              <a:t>4★ à 5★ sur Airbnb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F8EF8"/>
                </a:solidFill>
              </a:rPr>
              <a:t>Bordeaux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Analyse data &amp; recommandations personnalisées
pour optimiser vos notes voyageurs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89120"/>
            <a:ext cx="2743200" cy="3657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12 252 logements analysés  •  469 309 avis voyageurs  •  15 critères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7C3"/>
                </a:solidFill>
              </a:rPr>
              <a:t>Juin 2026</a:t>
            </a:r>
          </a:p>
        </p:txBody>
      </p:sp>
      <p:pic>
        <p:nvPicPr>
          <p:cNvPr id="11" name="Picture 10" descr="01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9319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 marché Airbnb Bordeaux en chiffres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377440" cy="146304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12 252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logements actifs
analysés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188720"/>
            <a:ext cx="2377440" cy="1463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325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4.7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note médiane
du marché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188720"/>
            <a:ext cx="2377440" cy="146304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32588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62 %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des logements
sont à 4.8+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6A6A"/>
                </a:solidFill>
              </a:rPr>
              <a:t>→ La compétition se joue sur les décimales : 4.79 vs 4.80 fait toute la différence.</a:t>
            </a:r>
          </a:p>
        </p:txBody>
      </p:sp>
      <p:pic>
        <p:nvPicPr>
          <p:cNvPr id="15" name="Picture 14" descr="01_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0"/>
            <a:ext cx="112471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Où se perdent les points ?</a:t>
            </a:r>
          </a:p>
        </p:txBody>
      </p:sp>
      <p:pic>
        <p:nvPicPr>
          <p:cNvPr id="5" name="Picture 4" descr="03_subscores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13232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097280"/>
            <a:ext cx="54864" cy="109728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27264" y="109728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18872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6A6A"/>
                </a:solidFill>
              </a:rPr>
              <a:t>  Propreté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50876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Corrélation la plus forte
avec la note globale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2331720"/>
            <a:ext cx="54864" cy="10972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27264" y="233172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42316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9344"/>
                </a:solidFill>
              </a:rPr>
              <a:t>  Précision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4320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L'annonce doit
correspondre à la réalité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566160"/>
            <a:ext cx="54864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27264" y="356616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65760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  Valeur perçue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97764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Rapport qualité/prix
très impactant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800600"/>
            <a:ext cx="54864" cy="10972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27264" y="4800600"/>
            <a:ext cx="405993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8920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EF8"/>
                </a:solidFill>
              </a:rPr>
              <a:t>  Localisation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212080"/>
            <a:ext cx="3886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Peu actionnable
→ focus sur le reste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Les équipements qui font la différence</a:t>
            </a:r>
          </a:p>
        </p:txBody>
      </p:sp>
      <p:pic>
        <p:nvPicPr>
          <p:cNvPr id="5" name="Picture 4" descr="04_amenities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315200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097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8EF8"/>
                </a:solidFill>
              </a:rPr>
              <a:t>⚡ Quick 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755648"/>
            <a:ext cx="164592" cy="164592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WiFi rapide &amp; fiable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441448"/>
            <a:ext cx="164592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331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Fer à repasser + planche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127248"/>
            <a:ext cx="164592" cy="1645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Produits de base (café…)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813048"/>
            <a:ext cx="164592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703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Sèche-cheveux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498848"/>
            <a:ext cx="164592" cy="164592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389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Caféière / bouilloire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5184648"/>
            <a:ext cx="164592" cy="164592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Guide d'accueil clair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Ce que disent vraiment vos voyageurs (IA NLP)</a:t>
            </a:r>
          </a:p>
        </p:txBody>
      </p:sp>
      <p:pic>
        <p:nvPicPr>
          <p:cNvPr id="5" name="Picture 4" descr="13_complaints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498079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8"/>
                </a:solidFill>
              </a:rPr>
              <a:t>🤖 Méthode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508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469 309 avis analysés
par moteur regex bilingue
(FR + EN, 15 catégories)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6A6A"/>
                </a:solidFill>
              </a:rPr>
              <a:t>🔴 Top plaintes (logements &lt; 4.5)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17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1. Propreté insuffisante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493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2. Bruit / nuisances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6849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3. Climatisation / chauffage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443983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4. WiFi lent ou absent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919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5. Check-in difficile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 d'action — De 4★ à 5★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02920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🧹 Propreté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Protocole de ménage renforcé
• Prestataire professionnel
• Kit produits visible
→ Corrélation #1 avec la 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657600" cy="50292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🔌 Équipements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916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WiFi fibre visible dès l'annonce
• Fer, cafetière, sèche-cheveux
• Guide d'équipements clair
→ ROI immédiat, coût &lt; 100€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657600" cy="5029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1887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🤝 Profil hôte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830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Réponse &lt; 1 heure (automatisable)
• Taux d'acceptation &gt; 90 %
• Objectif Superhost
→ +15 pts sur la visibilité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 Notre outil génère un rapport personnalisé pour chaque logement — prêt en 30 secondes.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